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Arkusz kalkulacyjny: Wstęp do analityki danych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Wprowadzenie do Google Sheets / Microsoft Excel</a:t>
            </a:r>
          </a:p>
          <a:p>
            <a:pPr lvl="0"/>
            <a:r>
              <a:rPr/>
              <a:t>Do czego w IT (i nie tylko) używa się arkuszy kalkulacyjnych?</a:t>
            </a:r>
          </a:p>
          <a:p>
            <a:pPr lvl="0"/>
            <a:r>
              <a:rPr/>
              <a:t>Podstawowa składnia formuł i adresowanie komórek</a:t>
            </a:r>
          </a:p>
          <a:p>
            <a:pPr lvl="0"/>
            <a:r>
              <a:rPr/>
              <a:t>Magia danych w zasięgu ręki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Czyste dane to podstawa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Prawdziwe dane są “brudne” – zawierają literówki, podwójne spacje, braki</a:t>
            </a:r>
          </a:p>
          <a:p>
            <a:pPr lvl="0"/>
            <a:r>
              <a:rPr/>
              <a:t>Oczyszczanie to pierwszy krok analityka danych</a:t>
            </a:r>
          </a:p>
          <a:p>
            <a:pPr lvl="0"/>
            <a:r>
              <a:rPr/>
              <a:t>Narzędzia: Usuń duplikaty, Znajdź i Zamień</a:t>
            </a:r>
          </a:p>
          <a:p>
            <a:pPr lvl="0"/>
            <a:r>
              <a:rPr/>
              <a:t>Puste wiersze lub błędnie sformatowane daty psują każdy wykres!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Formuły i funkcje matematyczne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Formułę zawsze zaczynamy znakiem = (równa się)</a:t>
            </a:r>
          </a:p>
          <a:p>
            <a:pPr lvl="0"/>
            <a:r>
              <a:rPr>
                <a:latin typeface="Courier"/>
              </a:rPr>
              <a:t>SUMA(A1:A10)</a:t>
            </a:r>
            <a:r>
              <a:rPr/>
              <a:t> - sumuje liczby we wskazanym zakresie</a:t>
            </a:r>
          </a:p>
          <a:p>
            <a:pPr lvl="0"/>
            <a:r>
              <a:rPr>
                <a:latin typeface="Courier"/>
              </a:rPr>
              <a:t>ŚREDNIA(A1:A10)</a:t>
            </a:r>
            <a:r>
              <a:rPr/>
              <a:t> - wyciąga średnią arytmetyczną</a:t>
            </a:r>
          </a:p>
          <a:p>
            <a:pPr lvl="0"/>
            <a:r>
              <a:rPr/>
              <a:t>Adresowanie względne (A1) vs bezwzględne ($A$1 - nie przesuwa się przy kopiowaniu formuły!)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Podejmowanie decyzji w komórkach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Funkcja </a:t>
            </a:r>
            <a:r>
              <a:rPr>
                <a:latin typeface="Courier"/>
              </a:rPr>
              <a:t>JEŻELI</a:t>
            </a:r>
            <a:r>
              <a:rPr/>
              <a:t> (IF) działa jak instrukcja warunkowa w programowaniu</a:t>
            </a:r>
          </a:p>
          <a:p>
            <a:pPr lvl="0"/>
            <a:r>
              <a:rPr>
                <a:latin typeface="Courier"/>
              </a:rPr>
              <a:t>=JEŻELI(A1&gt;50; "Zdał"; "Nie zdał")</a:t>
            </a:r>
          </a:p>
          <a:p>
            <a:pPr lvl="0"/>
            <a:r>
              <a:rPr>
                <a:latin typeface="Courier"/>
              </a:rPr>
              <a:t>LICZ.JEŻELI(B1:B100; "Warszawa")</a:t>
            </a:r>
            <a:r>
              <a:rPr/>
              <a:t> - liczy komórki, które spełniają konkretny warunek</a:t>
            </a:r>
          </a:p>
          <a:p>
            <a:pPr lvl="0"/>
            <a:r>
              <a:rPr/>
              <a:t>Bardzo przydatne przy segmentacji klientów lub sprawdzaniu list obecności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Wyszukiwanie danych (VLOOKUP)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Król arkuszy kalkulacyjnych: </a:t>
            </a:r>
            <a:r>
              <a:rPr>
                <a:latin typeface="Courier"/>
              </a:rPr>
              <a:t>WYSZUKAJ.PIONOWO</a:t>
            </a:r>
            <a:r>
              <a:rPr/>
              <a:t> (VLOOKUP)</a:t>
            </a:r>
          </a:p>
          <a:p>
            <a:pPr lvl="0"/>
            <a:r>
              <a:rPr/>
              <a:t>Pozwala łączyć dane z różnych tabel (np. cennik w jednym arkuszu, zamówienia w drugim)</a:t>
            </a:r>
          </a:p>
          <a:p>
            <a:pPr lvl="0"/>
            <a:r>
              <a:rPr/>
              <a:t>Działanie: “Znajdź to ID produktu w tamtej tabeli i podaj mi jego cenę”</a:t>
            </a:r>
          </a:p>
          <a:p>
            <a:pPr lvl="0"/>
            <a:r>
              <a:rPr/>
              <a:t>Zastępuje godziny żmudnego, ręcznego przypisywania wartości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Wizualizacja danych (Wykresy)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Liczby w tabelach nie mówią nic ludzkiemu oku. Potrzebujemy obrazu!</a:t>
            </a:r>
          </a:p>
          <a:p>
            <a:pPr lvl="0"/>
            <a:r>
              <a:rPr/>
              <a:t>Wykres kołowy (Pie chart): pokazuje procentowy udział w całości (np. udział rynku)</a:t>
            </a:r>
          </a:p>
          <a:p>
            <a:pPr lvl="0"/>
            <a:r>
              <a:rPr/>
              <a:t>Wykres słupkowy/kolumnowy (Bar chart): świetny do porównywania wartości (np. sprzedaż między miesiącami)</a:t>
            </a:r>
          </a:p>
          <a:p>
            <a:pPr lvl="0"/>
            <a:r>
              <a:rPr/>
              <a:t>Wykres liniowy (Line chart): idealny do prezentowania trendów w czasie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Filtrowanie i sortowanie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Chcesz zobaczyć tylko klientów z Krakowa? Użyj Filtra!</a:t>
            </a:r>
          </a:p>
          <a:p>
            <a:pPr lvl="0"/>
            <a:r>
              <a:rPr/>
              <a:t>Filtry (ikona lejka) pozwalają ukryć wiersze niespełniające kryteriów bez ich usuwania</a:t>
            </a:r>
          </a:p>
          <a:p>
            <a:pPr lvl="0"/>
            <a:r>
              <a:rPr/>
              <a:t>Sortowanie A-Z lub od największej do najmniejszej błyskawicznie pokazuje liderów rankingu</a:t>
            </a:r>
          </a:p>
          <a:p>
            <a:pPr lvl="0"/>
            <a:r>
              <a:rPr/>
              <a:t>Błędy przy sortowaniu: ZAWSZE upewnij się, że zaznaczyłeś wszystkie kolumny tabeli (inaczej pomieszasz dane!)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2026-09-21T18:37:48Z</dcterms:created>
  <dcterms:modified xsi:type="dcterms:W3CDTF">2026-09-21T18:37:48Z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