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Arkusz Kalkulacyjny w Analizie Danych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Arkusz to nie tylko tabele – to potężne narzędzie analityczne</a:t>
            </a:r>
          </a:p>
          <a:p>
            <a:pPr lvl="0"/>
            <a:r>
              <a:rPr/>
              <a:t>Kiedy używać arkuszy (szybka analiza) vs kiedy Pythona (Big Data)</a:t>
            </a:r>
          </a:p>
          <a:p>
            <a:pPr lvl="0"/>
            <a:r>
              <a:rPr/>
              <a:t>Umiejętności DevOps i analityka w pracy z brudnymi danymi</a:t>
            </a:r>
          </a:p>
          <a:p>
            <a:pPr lvl="0"/>
            <a:r>
              <a:rPr/>
              <a:t>Ekstrakcja wiedzy z surowych logów i statystyk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 i czyszczenie danych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Importowanie danych zewnętrznych: CSV, TSV</a:t>
            </a:r>
          </a:p>
          <a:p>
            <a:pPr lvl="0"/>
            <a:r>
              <a:rPr/>
              <a:t>Częste problemy: różne separatory, formaty dat, białe znaki</a:t>
            </a:r>
          </a:p>
          <a:p>
            <a:pPr lvl="0"/>
            <a:r>
              <a:rPr/>
              <a:t>Czyszczenie danych - przydatne funkcje:</a:t>
            </a:r>
          </a:p>
          <a:p>
            <a:pPr lvl="1"/>
            <a:r>
              <a:rPr>
                <a:latin typeface="Courier"/>
              </a:rPr>
              <a:t>TRIM()</a:t>
            </a:r>
            <a:r>
              <a:rPr/>
              <a:t> (usuwanie spacji)</a:t>
            </a:r>
          </a:p>
          <a:p>
            <a:pPr lvl="1"/>
            <a:r>
              <a:rPr>
                <a:latin typeface="Courier"/>
              </a:rPr>
              <a:t>CLEAN()</a:t>
            </a:r>
            <a:r>
              <a:rPr/>
              <a:t> (usuwanie znaków niedrukowanych)</a:t>
            </a:r>
          </a:p>
          <a:p>
            <a:pPr lvl="1"/>
            <a:r>
              <a:rPr/>
              <a:t>Znajdź i zamień / Usuwanie duplikatów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Funkcje analityczne i logiczne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IF (JEŻELI)</a:t>
            </a:r>
            <a:r>
              <a:rPr/>
              <a:t>: Podstawowa logika decyzyjna</a:t>
            </a:r>
          </a:p>
          <a:p>
            <a:pPr lvl="0"/>
            <a:r>
              <a:rPr b="1"/>
              <a:t>COUNTIF (LICZ.JEŻELI)</a:t>
            </a:r>
            <a:r>
              <a:rPr/>
              <a:t>: Zliczanie wystąpień spełniających warunek</a:t>
            </a:r>
          </a:p>
          <a:p>
            <a:pPr lvl="0"/>
            <a:r>
              <a:rPr b="1"/>
              <a:t>SUMIF (SUMA.JEŻELI)</a:t>
            </a:r>
            <a:r>
              <a:rPr/>
              <a:t>: Sumowanie wartości spełniających kryterium</a:t>
            </a:r>
          </a:p>
          <a:p>
            <a:pPr lvl="0"/>
            <a:r>
              <a:rPr/>
              <a:t>Idealne do szybkiego sprawdzania ilości np. błędów 404 w logach lub statusów płatności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Łączenie danych - WYSZUKAJ.PIONOWO (VLOOKUP)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Cel: Pobieranie danych z innych tabel na podstawie wspólnego klucza</a:t>
            </a:r>
          </a:p>
          <a:p>
            <a:pPr lvl="0"/>
            <a:r>
              <a:rPr/>
              <a:t>Składnia VLOOKUP (wartość, zakres, kolumna, dokładność)</a:t>
            </a:r>
          </a:p>
          <a:p>
            <a:pPr lvl="0"/>
            <a:r>
              <a:rPr/>
              <a:t>Alternatywy: INDEX + MATCH (INDEKS + PODAJ.POZYCJĘ) - większa elastyczność</a:t>
            </a:r>
          </a:p>
          <a:p>
            <a:pPr lvl="0"/>
            <a:r>
              <a:rPr/>
              <a:t>Zastosowanie: np. przypisanie nazwy błędu do kodu HTTP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Tabele przestawne (Pivot Tables)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Najpotężniejsze narzędzie arkusza do analizy</a:t>
            </a:r>
          </a:p>
          <a:p>
            <a:pPr lvl="0"/>
            <a:r>
              <a:rPr/>
              <a:t>Szybkie agregowanie i grupowanie dużych zbiorów danych</a:t>
            </a:r>
          </a:p>
          <a:p>
            <a:pPr lvl="0"/>
            <a:r>
              <a:rPr/>
              <a:t>Przeciągnij i upuść: kolumny, wiersze, wartości</a:t>
            </a:r>
          </a:p>
          <a:p>
            <a:pPr lvl="0"/>
            <a:r>
              <a:rPr/>
              <a:t>Przykład: Zliczenie liczby logowań dla każdego adresu IP w ciągu miesiąca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Wizualizacja i Formatowanie Warunkowe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Wyróżnianie istotnych danych (np. czerwony kolor dla błędów serwera)</a:t>
            </a:r>
          </a:p>
          <a:p>
            <a:pPr lvl="0"/>
            <a:r>
              <a:rPr/>
              <a:t>Skale kolorów do wykrywania anomalii w danych liczbowych</a:t>
            </a:r>
          </a:p>
          <a:p>
            <a:pPr lvl="0"/>
            <a:r>
              <a:rPr/>
              <a:t>Sparklines - małe wykresy wewnątrz pojedynczej komórki</a:t>
            </a:r>
          </a:p>
          <a:p>
            <a:pPr lvl="0"/>
            <a:r>
              <a:rPr/>
              <a:t>Wykresy Combo - łączenie wykresu słupkowego (np. liczba wizyt) z liniowym (np. czas odpowiedzi serwera)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Analiza logów serwera - Studium Przypadku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Struktura typowego loga: IP, Data/Czas, Metoda, URL, Status HTTP, Rozmiar</a:t>
            </a:r>
          </a:p>
          <a:p>
            <a:pPr lvl="0"/>
            <a:r>
              <a:rPr/>
              <a:t>Proces analizy:</a:t>
            </a:r>
          </a:p>
          <a:p>
            <a:pPr lvl="1" indent="-342900" marL="685800">
              <a:buAutoNum type="arabicPeriod"/>
            </a:pPr>
            <a:r>
              <a:rPr/>
              <a:t>Import CSV</a:t>
            </a:r>
          </a:p>
          <a:p>
            <a:pPr lvl="1" indent="-342900" marL="685800">
              <a:buAutoNum type="arabicPeriod"/>
            </a:pPr>
            <a:r>
              <a:rPr/>
              <a:t>Wydzielenie daty i czasu (Tekst jako kolumny)</a:t>
            </a:r>
          </a:p>
          <a:p>
            <a:pPr lvl="1" indent="-342900" marL="685800">
              <a:buAutoNum type="arabicPeriod"/>
            </a:pPr>
            <a:r>
              <a:rPr/>
              <a:t>Formatowanie warunkowe na statusach (np. &gt;= 400)</a:t>
            </a:r>
          </a:p>
          <a:p>
            <a:pPr lvl="1" indent="-342900" marL="685800">
              <a:buAutoNum type="arabicPeriod"/>
            </a:pPr>
            <a:r>
              <a:rPr/>
              <a:t>Tabela przestawna - top 5 najczęstszych IP (szukanie botów)</a:t>
            </a:r>
          </a:p>
          <a:p>
            <a:pPr lvl="0"/>
            <a:r>
              <a:rPr/>
              <a:t>Wyciąganie wniosków na podstawie suchych danych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Arkusz vs Skrypt (Python/Pandas)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Arkusz (Sheets/Excel)</a:t>
            </a:r>
            <a:r>
              <a:rPr/>
              <a:t>:</a:t>
            </a:r>
          </a:p>
          <a:p>
            <a:pPr lvl="1"/>
            <a:r>
              <a:rPr/>
              <a:t>Szybki podgląd i wizualizacja</a:t>
            </a:r>
          </a:p>
          <a:p>
            <a:pPr lvl="1"/>
            <a:r>
              <a:rPr/>
              <a:t>Dane do miliona wierszy (Excel)</a:t>
            </a:r>
          </a:p>
          <a:p>
            <a:pPr lvl="1"/>
            <a:r>
              <a:rPr/>
              <a:t>Łatwe udostępnianie raportów biznesowi</a:t>
            </a:r>
          </a:p>
          <a:p>
            <a:pPr lvl="0"/>
            <a:r>
              <a:rPr b="1"/>
              <a:t>Skrypt (Python)</a:t>
            </a:r>
            <a:r>
              <a:rPr/>
              <a:t>:</a:t>
            </a:r>
          </a:p>
          <a:p>
            <a:pPr lvl="1"/>
            <a:r>
              <a:rPr/>
              <a:t>Przetwarzanie gigabajtów danych</a:t>
            </a:r>
          </a:p>
          <a:p>
            <a:pPr lvl="1"/>
            <a:r>
              <a:rPr/>
              <a:t>Automatyzacja powtarzalnych zadań</a:t>
            </a:r>
          </a:p>
          <a:p>
            <a:pPr lvl="1"/>
            <a:r>
              <a:rPr/>
              <a:t>Zaawansowane przekształcenia (machine learning)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2026-09-21T18:36:53Z</dcterms:created>
  <dcterms:modified xsi:type="dcterms:W3CDTF">2026-09-21T18:36:53Z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